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4B69F2D-CD60-46DF-84AD-4ADC75420DDB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8DD4A2-610C-48A9-AA1D-02CEC9142EC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D71A81-1998-4710-85CA-8E1095D7E8B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20C9AD-3861-49B1-B2C4-6A12EF1271B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C96491-5099-47C6-B1FF-726ADA44C8D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D53F7-2852-4580-A5B0-7108C279D3A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DCB821-E3FB-4194-92D6-CE1165A826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F60327-B21E-4A01-9F8D-96FD85BFFEF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89F992-7455-41CB-B5C1-4404DD0273A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06B5D7-F785-40A9-BE8E-86D10B814C1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255076-D424-4CAA-9AB6-0B96D3BCA3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04D4CB-82E6-4B00-A024-00B90068052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3B0E58-A636-4EC5-82CF-5C1631E7F5D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img/pulse.png"/>
          <p:cNvPicPr/>
          <p:nvPr/>
        </p:nvPicPr>
        <p:blipFill>
          <a:blip r:embed="rId4"/>
          <a:stretch/>
        </p:blipFill>
        <p:spPr>
          <a:xfrm>
            <a:off x="777240" y="4083799"/>
            <a:ext cx="3291120" cy="438120"/>
          </a:xfrm>
          <a:prstGeom prst="rect">
            <a:avLst/>
          </a:prstGeom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822960" y="14173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 dirty="0">
                <a:solidFill>
                  <a:srgbClr val="5EEAD4"/>
                </a:solidFill>
                <a:latin typeface="Calibri"/>
                <a:ea typeface="Calibri"/>
              </a:rPr>
              <a:t>INTELIGENCIA BIOLÓGICA PREDICTIVA</a:t>
            </a:r>
            <a:endParaRPr lang="en-US" sz="12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777240" y="1828800"/>
            <a:ext cx="914328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strike="noStrike" spc="-1">
                <a:solidFill>
                  <a:srgbClr val="EAF5F0"/>
                </a:solidFill>
                <a:latin typeface="Georgia"/>
                <a:ea typeface="Georgia"/>
              </a:rPr>
              <a:t>Bio</a:t>
            </a:r>
            <a:r>
              <a:rPr lang="en-US" sz="9600" b="1" strike="noStrike" spc="-1">
                <a:solidFill>
                  <a:srgbClr val="5EEAD4"/>
                </a:solidFill>
                <a:latin typeface="Georgia"/>
                <a:ea typeface="Georgia"/>
              </a:rPr>
              <a:t>vant</a:t>
            </a:r>
            <a:endParaRPr lang="en-US" sz="9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22960" y="333756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5EEAD4"/>
                </a:solidFill>
                <a:latin typeface="Georgia"/>
                <a:ea typeface="Georgia"/>
              </a:rPr>
              <a:t>Escuchamos a la biología antes de que falle.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77240" y="4572360"/>
            <a:ext cx="768024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Plataforma de IA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que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previene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la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contaminación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industrial —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anticipando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el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deterioro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de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los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sistemas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biológicos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de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tratamiento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antes de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que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</a:t>
            </a:r>
            <a:r>
              <a:rPr lang="en-US" sz="1650" b="0" strike="noStrike" spc="-1" dirty="0" err="1">
                <a:solidFill>
                  <a:srgbClr val="9CC3B8"/>
                </a:solidFill>
                <a:latin typeface="Calibri"/>
                <a:ea typeface="Calibri"/>
              </a:rPr>
              <a:t>ocurra</a:t>
            </a:r>
            <a:r>
              <a:rPr lang="en-US" sz="165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.</a:t>
            </a:r>
            <a:endParaRPr lang="en-US" sz="16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777240" y="5573119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EAF5F0"/>
                </a:solidFill>
                <a:latin typeface="Calibri"/>
                <a:ea typeface="Calibri"/>
              </a:rPr>
              <a:t>Pitch de </a:t>
            </a:r>
            <a:r>
              <a:rPr lang="en-US" sz="1300" b="1" strike="noStrike" spc="-1" dirty="0" err="1">
                <a:solidFill>
                  <a:srgbClr val="EAF5F0"/>
                </a:solidFill>
                <a:latin typeface="Calibri"/>
                <a:ea typeface="Calibri"/>
              </a:rPr>
              <a:t>inversión</a:t>
            </a:r>
            <a:r>
              <a:rPr lang="en-US" sz="1300" b="0" strike="noStrike" spc="-1" dirty="0">
                <a:solidFill>
                  <a:srgbClr val="9CC3B8"/>
                </a:solidFill>
                <a:latin typeface="Calibri"/>
                <a:ea typeface="Calibri"/>
              </a:rPr>
              <a:t>   ·  Hackathon de Negocios – Track: Deep Tech   </a:t>
            </a:r>
            <a:endParaRPr lang="en-US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28"/>
          <p:cNvSpPr/>
          <p:nvPr/>
        </p:nvSpPr>
        <p:spPr>
          <a:xfrm>
            <a:off x="777240" y="5208079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Avril Valentina Saint-Ignan – Lucia Herzog Mallo – Samuel Ramos </a:t>
            </a:r>
            <a:endParaRPr lang="en-US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676800" y="713160"/>
            <a:ext cx="255240" cy="63360"/>
          </a:xfrm>
          <a:prstGeom prst="rect">
            <a:avLst/>
          </a:prstGeom>
          <a:solidFill>
            <a:srgbClr val="D953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1024200" y="60336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5EEAD4"/>
                </a:solidFill>
                <a:latin typeface="Calibri"/>
                <a:ea typeface="Calibri"/>
              </a:rPr>
              <a:t>EL PROBLEMA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40080" y="960120"/>
            <a:ext cx="10880640" cy="9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AF5F0"/>
                </a:solidFill>
                <a:latin typeface="Georgia"/>
                <a:ea typeface="Georgia"/>
              </a:rPr>
              <a:t>Detectamos la contaminación cuando ya es tarde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76800" y="2057400"/>
            <a:ext cx="1078920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9CC3B8"/>
                </a:solidFill>
                <a:latin typeface="Calibri"/>
                <a:ea typeface="Calibri"/>
              </a:rPr>
              <a:t>Las plantas de tratamiento biológico dependen de comunidades microbianas  para limpiar el agua. Hoy la mayoría de las industrias opera de forma reactiva: el problema se detecta cuando el daño ya empezó o el incumplimiento es inminente.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676800" y="3703320"/>
            <a:ext cx="3455640" cy="2331000"/>
          </a:xfrm>
          <a:prstGeom prst="roundRect">
            <a:avLst>
              <a:gd name="adj" fmla="val 3922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987480" y="4014360"/>
            <a:ext cx="749160" cy="749160"/>
          </a:xfrm>
          <a:prstGeom prst="ellipse">
            <a:avLst/>
          </a:prstGeom>
          <a:solidFill>
            <a:srgbClr val="081F1A"/>
          </a:solidFill>
          <a:ln w="15875">
            <a:solidFill>
              <a:srgbClr val="D953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4"/>
          <a:stretch/>
        </p:blipFill>
        <p:spPr>
          <a:xfrm>
            <a:off x="1152000" y="417888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22" name="Text 6"/>
          <p:cNvSpPr/>
          <p:nvPr/>
        </p:nvSpPr>
        <p:spPr>
          <a:xfrm>
            <a:off x="987480" y="4892040"/>
            <a:ext cx="28339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AF5F0"/>
                </a:solidFill>
                <a:latin typeface="Georgia"/>
                <a:ea typeface="Georgia"/>
              </a:rPr>
              <a:t>Daño ambiental ya iniciado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987480" y="5367600"/>
            <a:ext cx="28339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9CC3B8"/>
                </a:solidFill>
                <a:latin typeface="Calibri"/>
                <a:ea typeface="Calibri"/>
              </a:rPr>
              <a:t>Cuando la biomasa colapsa, el efluente contaminante ya salió de la planta.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4389120" y="3703320"/>
            <a:ext cx="3455640" cy="2331000"/>
          </a:xfrm>
          <a:prstGeom prst="roundRect">
            <a:avLst>
              <a:gd name="adj" fmla="val 3922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4700160" y="4014360"/>
            <a:ext cx="749160" cy="749160"/>
          </a:xfrm>
          <a:prstGeom prst="ellipse">
            <a:avLst/>
          </a:prstGeom>
          <a:solidFill>
            <a:srgbClr val="081F1A"/>
          </a:solidFill>
          <a:ln w="15875">
            <a:solidFill>
              <a:srgbClr val="E097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Image 1" descr="preencoded.png"/>
          <p:cNvPicPr/>
          <p:nvPr/>
        </p:nvPicPr>
        <p:blipFill>
          <a:blip r:embed="rId5"/>
          <a:stretch/>
        </p:blipFill>
        <p:spPr>
          <a:xfrm>
            <a:off x="4864680" y="417888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27" name="Text 10"/>
          <p:cNvSpPr/>
          <p:nvPr/>
        </p:nvSpPr>
        <p:spPr>
          <a:xfrm>
            <a:off x="4700160" y="4892040"/>
            <a:ext cx="28339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AF5F0"/>
                </a:solidFill>
                <a:latin typeface="Georgia"/>
                <a:ea typeface="Georgia"/>
              </a:rPr>
              <a:t>Multas e incumplimiento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00160" y="5367600"/>
            <a:ext cx="28339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9CC3B8"/>
                </a:solidFill>
                <a:latin typeface="Calibri"/>
                <a:ea typeface="Calibri"/>
              </a:rPr>
              <a:t>Parámetros regulatorios al límite y sanciones que escalan rápido.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8101440" y="3703320"/>
            <a:ext cx="3455640" cy="2331000"/>
          </a:xfrm>
          <a:prstGeom prst="roundRect">
            <a:avLst>
              <a:gd name="adj" fmla="val 3922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8412480" y="4014360"/>
            <a:ext cx="749160" cy="749160"/>
          </a:xfrm>
          <a:prstGeom prst="ellipse">
            <a:avLst/>
          </a:prstGeom>
          <a:solidFill>
            <a:srgbClr val="081F1A"/>
          </a:solidFill>
          <a:ln w="15875">
            <a:solidFill>
              <a:srgbClr val="D953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2" descr="preencoded.png"/>
          <p:cNvPicPr/>
          <p:nvPr/>
        </p:nvPicPr>
        <p:blipFill>
          <a:blip r:embed="rId6"/>
          <a:stretch/>
        </p:blipFill>
        <p:spPr>
          <a:xfrm>
            <a:off x="8577000" y="417888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32" name="Text 14"/>
          <p:cNvSpPr/>
          <p:nvPr/>
        </p:nvSpPr>
        <p:spPr>
          <a:xfrm>
            <a:off x="8412480" y="4892040"/>
            <a:ext cx="28339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AF5F0"/>
                </a:solidFill>
                <a:latin typeface="Georgia"/>
                <a:ea typeface="Georgia"/>
              </a:rPr>
              <a:t>Producción comprometida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8412480" y="5367600"/>
            <a:ext cx="28339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9CC3B8"/>
                </a:solidFill>
                <a:latin typeface="Calibri"/>
                <a:ea typeface="Calibri"/>
              </a:rPr>
              <a:t>Paradas, reprocesos y pérdida de throughput en plena operación.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676800" y="713160"/>
            <a:ext cx="255240" cy="6336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1024200" y="60336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5EEAD4"/>
                </a:solidFill>
                <a:latin typeface="Calibri"/>
                <a:ea typeface="Calibri"/>
              </a:rPr>
              <a:t>POR QUÉ AHORA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640080" y="960120"/>
            <a:ext cx="10880640" cy="9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AF5F0"/>
                </a:solidFill>
                <a:latin typeface="Georgia"/>
                <a:ea typeface="Georgia"/>
              </a:rPr>
              <a:t>La sostenibilidad ya es condición para exportar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76800" y="2057400"/>
            <a:ext cx="1060632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9CC3B8"/>
                </a:solidFill>
                <a:latin typeface="Calibri"/>
                <a:ea typeface="Calibri"/>
              </a:rPr>
              <a:t>Los compradores internacionales ya no evalúan sólo el producto, sino cómo fue producido. La ventana se abre ahora — y favorece a quien llegue primero.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713160" y="3173040"/>
            <a:ext cx="749160" cy="749160"/>
          </a:xfrm>
          <a:prstGeom prst="ellipse">
            <a:avLst/>
          </a:prstGeom>
          <a:solidFill>
            <a:srgbClr val="0E3029"/>
          </a:solidFill>
          <a:ln w="15875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4"/>
          <a:stretch/>
        </p:blipFill>
        <p:spPr>
          <a:xfrm>
            <a:off x="877680" y="333756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40" name="Text 5"/>
          <p:cNvSpPr/>
          <p:nvPr/>
        </p:nvSpPr>
        <p:spPr>
          <a:xfrm>
            <a:off x="1691640" y="313632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EEAD4"/>
                </a:solidFill>
                <a:latin typeface="Georgia"/>
                <a:ea typeface="Georgia"/>
              </a:rPr>
              <a:t>Regulatorio y comercial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846320" y="3108960"/>
            <a:ext cx="6628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AF5F0"/>
                </a:solidFill>
                <a:latin typeface="Calibri"/>
                <a:ea typeface="Calibri"/>
              </a:rPr>
              <a:t>Acuerdo UE–Mercosur, European Green Deal y Farm to Fork elevan las exigencias de trazabilidad y desempeño ambiental.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1691640" y="4105440"/>
            <a:ext cx="9784080" cy="360"/>
          </a:xfrm>
          <a:prstGeom prst="line">
            <a:avLst/>
          </a:prstGeom>
          <a:ln w="9525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713160" y="4251960"/>
            <a:ext cx="749160" cy="749160"/>
          </a:xfrm>
          <a:prstGeom prst="ellipse">
            <a:avLst/>
          </a:prstGeom>
          <a:solidFill>
            <a:srgbClr val="0E3029"/>
          </a:solidFill>
          <a:ln w="15875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1" descr="preencoded.png"/>
          <p:cNvPicPr/>
          <p:nvPr/>
        </p:nvPicPr>
        <p:blipFill>
          <a:blip r:embed="rId5"/>
          <a:stretch/>
        </p:blipFill>
        <p:spPr>
          <a:xfrm>
            <a:off x="877680" y="441648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45" name="Text 9"/>
          <p:cNvSpPr/>
          <p:nvPr/>
        </p:nvSpPr>
        <p:spPr>
          <a:xfrm>
            <a:off x="1691640" y="421524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EEAD4"/>
                </a:solidFill>
                <a:latin typeface="Georgia"/>
                <a:ea typeface="Georgia"/>
              </a:rPr>
              <a:t>Mercado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4846320" y="4187880"/>
            <a:ext cx="6628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AF5F0"/>
                </a:solidFill>
                <a:latin typeface="Calibri"/>
                <a:ea typeface="Calibri"/>
              </a:rPr>
              <a:t>Demostrar gestión ambiental robusta deja de ser una obligación y pasa a ser ventaja competitiva para acceder y sostener mercados.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1691640" y="5184360"/>
            <a:ext cx="9784080" cy="360"/>
          </a:xfrm>
          <a:prstGeom prst="line">
            <a:avLst/>
          </a:prstGeom>
          <a:ln w="9525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2"/>
          <p:cNvSpPr/>
          <p:nvPr/>
        </p:nvSpPr>
        <p:spPr>
          <a:xfrm>
            <a:off x="713160" y="5330880"/>
            <a:ext cx="749160" cy="749160"/>
          </a:xfrm>
          <a:prstGeom prst="ellipse">
            <a:avLst/>
          </a:prstGeom>
          <a:solidFill>
            <a:srgbClr val="0E3029"/>
          </a:solidFill>
          <a:ln w="15875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2" descr="preencoded.png"/>
          <p:cNvPicPr/>
          <p:nvPr/>
        </p:nvPicPr>
        <p:blipFill>
          <a:blip r:embed="rId6"/>
          <a:stretch/>
        </p:blipFill>
        <p:spPr>
          <a:xfrm>
            <a:off x="877680" y="5495400"/>
            <a:ext cx="419760" cy="419760"/>
          </a:xfrm>
          <a:prstGeom prst="rect">
            <a:avLst/>
          </a:prstGeom>
          <a:ln w="0">
            <a:noFill/>
          </a:ln>
        </p:spPr>
      </p:pic>
      <p:sp>
        <p:nvSpPr>
          <p:cNvPr id="50" name="Text 13"/>
          <p:cNvSpPr/>
          <p:nvPr/>
        </p:nvSpPr>
        <p:spPr>
          <a:xfrm>
            <a:off x="1691640" y="529452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EEAD4"/>
                </a:solidFill>
                <a:latin typeface="Georgia"/>
                <a:ea typeface="Georgia"/>
              </a:rPr>
              <a:t>Tecnológico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846320" y="5266800"/>
            <a:ext cx="6628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AF5F0"/>
                </a:solidFill>
                <a:latin typeface="Calibri"/>
                <a:ea typeface="Calibri"/>
              </a:rPr>
              <a:t>Toxicidad por bioluminiscencia ya validada y automatizada (ISO 11348); datasets de visión computacional para microfauna emergiendo (2025).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LA SOLUCIÓN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640080" y="841320"/>
            <a:ext cx="108806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Cuatro niveles de inteligencia biológica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676800" y="1691640"/>
            <a:ext cx="107892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2620"/>
                </a:solidFill>
                <a:latin typeface="Calibri"/>
                <a:ea typeface="Calibri"/>
              </a:rPr>
              <a:t>Una plataforma de inteligencia ecológica predictiva </a:t>
            </a:r>
            <a:r>
              <a:rPr lang="en-US" sz="1600" b="0" strike="noStrike" spc="-1">
                <a:solidFill>
                  <a:srgbClr val="33524A"/>
                </a:solidFill>
                <a:latin typeface="Calibri"/>
                <a:ea typeface="Calibri"/>
              </a:rPr>
              <a:t>que integra toxicidad, ecología microbiana, sensores e IA explicable para anticipar el riesgo antes de que se convierta en contaminación.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676800" y="2697480"/>
            <a:ext cx="2395080" cy="785520"/>
          </a:xfrm>
          <a:prstGeom prst="roundRect">
            <a:avLst>
              <a:gd name="adj" fmla="val 5000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3"/>
          <a:stretch/>
        </p:blipFill>
        <p:spPr>
          <a:xfrm>
            <a:off x="914400" y="29260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58" name="Text 5"/>
          <p:cNvSpPr/>
          <p:nvPr/>
        </p:nvSpPr>
        <p:spPr>
          <a:xfrm>
            <a:off x="1334880" y="2697480"/>
            <a:ext cx="164520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2620"/>
                </a:solidFill>
                <a:latin typeface="Calibri"/>
                <a:ea typeface="Calibri"/>
              </a:rPr>
              <a:t>Efluente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Image 1" descr="preencoded.png"/>
          <p:cNvPicPr/>
          <p:nvPr/>
        </p:nvPicPr>
        <p:blipFill>
          <a:blip r:embed="rId4"/>
          <a:stretch/>
        </p:blipFill>
        <p:spPr>
          <a:xfrm>
            <a:off x="3218760" y="2944440"/>
            <a:ext cx="218880" cy="291960"/>
          </a:xfrm>
          <a:prstGeom prst="rect">
            <a:avLst/>
          </a:prstGeom>
          <a:ln w="0">
            <a:noFill/>
          </a:ln>
        </p:spPr>
      </p:pic>
      <p:sp>
        <p:nvSpPr>
          <p:cNvPr id="60" name="Shape 6"/>
          <p:cNvSpPr/>
          <p:nvPr/>
        </p:nvSpPr>
        <p:spPr>
          <a:xfrm>
            <a:off x="3575160" y="2697480"/>
            <a:ext cx="2395080" cy="785520"/>
          </a:xfrm>
          <a:prstGeom prst="roundRect">
            <a:avLst>
              <a:gd name="adj" fmla="val 5000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Image 2" descr="preencoded.png"/>
          <p:cNvPicPr/>
          <p:nvPr/>
        </p:nvPicPr>
        <p:blipFill>
          <a:blip r:embed="rId5"/>
          <a:stretch/>
        </p:blipFill>
        <p:spPr>
          <a:xfrm>
            <a:off x="3813120" y="29260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62" name="Text 7"/>
          <p:cNvSpPr/>
          <p:nvPr/>
        </p:nvSpPr>
        <p:spPr>
          <a:xfrm>
            <a:off x="4233600" y="2697480"/>
            <a:ext cx="164520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2620"/>
                </a:solidFill>
                <a:latin typeface="Calibri"/>
                <a:ea typeface="Calibri"/>
              </a:rPr>
              <a:t>Señales bio + químicas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3" descr="preencoded.png"/>
          <p:cNvPicPr/>
          <p:nvPr/>
        </p:nvPicPr>
        <p:blipFill>
          <a:blip r:embed="rId4"/>
          <a:stretch/>
        </p:blipFill>
        <p:spPr>
          <a:xfrm>
            <a:off x="6117480" y="2944440"/>
            <a:ext cx="218880" cy="291960"/>
          </a:xfrm>
          <a:prstGeom prst="rect">
            <a:avLst/>
          </a:prstGeom>
          <a:ln w="0">
            <a:noFill/>
          </a:ln>
        </p:spPr>
      </p:pic>
      <p:sp>
        <p:nvSpPr>
          <p:cNvPr id="64" name="Shape 8"/>
          <p:cNvSpPr/>
          <p:nvPr/>
        </p:nvSpPr>
        <p:spPr>
          <a:xfrm>
            <a:off x="6473880" y="2697480"/>
            <a:ext cx="2395080" cy="785520"/>
          </a:xfrm>
          <a:prstGeom prst="roundRect">
            <a:avLst>
              <a:gd name="adj" fmla="val 5000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4" descr="preencoded.png"/>
          <p:cNvPicPr/>
          <p:nvPr/>
        </p:nvPicPr>
        <p:blipFill>
          <a:blip r:embed="rId6"/>
          <a:stretch/>
        </p:blipFill>
        <p:spPr>
          <a:xfrm>
            <a:off x="6711840" y="29260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66" name="Text 9"/>
          <p:cNvSpPr/>
          <p:nvPr/>
        </p:nvSpPr>
        <p:spPr>
          <a:xfrm>
            <a:off x="7132320" y="2697480"/>
            <a:ext cx="164520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2620"/>
                </a:solidFill>
                <a:latin typeface="Calibri"/>
                <a:ea typeface="Calibri"/>
              </a:rPr>
              <a:t>IA explicable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Image 5" descr="preencoded.png"/>
          <p:cNvPicPr/>
          <p:nvPr/>
        </p:nvPicPr>
        <p:blipFill>
          <a:blip r:embed="rId4"/>
          <a:stretch/>
        </p:blipFill>
        <p:spPr>
          <a:xfrm>
            <a:off x="9015840" y="2944440"/>
            <a:ext cx="218880" cy="291960"/>
          </a:xfrm>
          <a:prstGeom prst="rect">
            <a:avLst/>
          </a:prstGeom>
          <a:ln w="0">
            <a:noFill/>
          </a:ln>
        </p:spPr>
      </p:pic>
      <p:sp>
        <p:nvSpPr>
          <p:cNvPr id="68" name="Shape 10"/>
          <p:cNvSpPr/>
          <p:nvPr/>
        </p:nvSpPr>
        <p:spPr>
          <a:xfrm>
            <a:off x="9372600" y="2697480"/>
            <a:ext cx="2395080" cy="7855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6" descr="preencoded.png"/>
          <p:cNvPicPr/>
          <p:nvPr/>
        </p:nvPicPr>
        <p:blipFill>
          <a:blip r:embed="rId7"/>
          <a:stretch/>
        </p:blipFill>
        <p:spPr>
          <a:xfrm>
            <a:off x="9610200" y="29260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70" name="Text 11"/>
          <p:cNvSpPr/>
          <p:nvPr/>
        </p:nvSpPr>
        <p:spPr>
          <a:xfrm>
            <a:off x="10031040" y="2697480"/>
            <a:ext cx="164520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BHI + recomendaciones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676800" y="3767400"/>
            <a:ext cx="2669400" cy="2395080"/>
          </a:xfrm>
          <a:prstGeom prst="roundRect">
            <a:avLst>
              <a:gd name="adj" fmla="val 343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76800" y="3767400"/>
            <a:ext cx="81720" cy="23950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951120" y="4041720"/>
            <a:ext cx="676080" cy="6760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7" descr="preencoded.png"/>
          <p:cNvPicPr/>
          <p:nvPr/>
        </p:nvPicPr>
        <p:blipFill>
          <a:blip r:embed="rId8"/>
          <a:stretch/>
        </p:blipFill>
        <p:spPr>
          <a:xfrm>
            <a:off x="1106280" y="4197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75" name="Text 15"/>
          <p:cNvSpPr/>
          <p:nvPr/>
        </p:nvSpPr>
        <p:spPr>
          <a:xfrm>
            <a:off x="951120" y="4791600"/>
            <a:ext cx="2166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2620"/>
                </a:solidFill>
                <a:latin typeface="Georgia"/>
                <a:ea typeface="Georgia"/>
              </a:rPr>
              <a:t>Sensores convencionales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951120" y="5358240"/>
            <a:ext cx="21664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33524A"/>
                </a:solidFill>
                <a:latin typeface="Calibri"/>
                <a:ea typeface="Calibri"/>
              </a:rPr>
              <a:t>NH₄⁺, OD, pH, temperatura, DBO, DQO, caudal y actividad deshidrogenasa.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3465720" y="3767400"/>
            <a:ext cx="2669400" cy="2395080"/>
          </a:xfrm>
          <a:prstGeom prst="roundRect">
            <a:avLst>
              <a:gd name="adj" fmla="val 343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3465720" y="3767400"/>
            <a:ext cx="81720" cy="23950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3740040" y="4041720"/>
            <a:ext cx="676080" cy="6760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8" descr="preencoded.png"/>
          <p:cNvPicPr/>
          <p:nvPr/>
        </p:nvPicPr>
        <p:blipFill>
          <a:blip r:embed="rId9"/>
          <a:stretch/>
        </p:blipFill>
        <p:spPr>
          <a:xfrm>
            <a:off x="3895200" y="4197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81" name="Text 20"/>
          <p:cNvSpPr/>
          <p:nvPr/>
        </p:nvSpPr>
        <p:spPr>
          <a:xfrm>
            <a:off x="3740040" y="4791600"/>
            <a:ext cx="2166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2620"/>
                </a:solidFill>
                <a:latin typeface="Georgia"/>
                <a:ea typeface="Georgia"/>
              </a:rPr>
              <a:t>Vibrio Sentinel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3740040" y="5358240"/>
            <a:ext cx="21664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33524A"/>
                </a:solidFill>
                <a:latin typeface="Calibri"/>
                <a:ea typeface="Calibri"/>
              </a:rPr>
              <a:t>Toxicidad temprana por bioluminiscencia de Vibrio fischeri, validada internacionalmente.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2"/>
          <p:cNvSpPr/>
          <p:nvPr/>
        </p:nvSpPr>
        <p:spPr>
          <a:xfrm>
            <a:off x="6254640" y="3767400"/>
            <a:ext cx="2669400" cy="2395080"/>
          </a:xfrm>
          <a:prstGeom prst="roundRect">
            <a:avLst>
              <a:gd name="adj" fmla="val 343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6254640" y="3767400"/>
            <a:ext cx="81720" cy="23950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24"/>
          <p:cNvSpPr/>
          <p:nvPr/>
        </p:nvSpPr>
        <p:spPr>
          <a:xfrm>
            <a:off x="6528960" y="4041720"/>
            <a:ext cx="676080" cy="6760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9" descr="preencoded.png"/>
          <p:cNvPicPr/>
          <p:nvPr/>
        </p:nvPicPr>
        <p:blipFill>
          <a:blip r:embed="rId10"/>
          <a:stretch/>
        </p:blipFill>
        <p:spPr>
          <a:xfrm>
            <a:off x="6684120" y="4197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87" name="Text 25"/>
          <p:cNvSpPr/>
          <p:nvPr/>
        </p:nvSpPr>
        <p:spPr>
          <a:xfrm>
            <a:off x="6528960" y="4791600"/>
            <a:ext cx="2166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2620"/>
                </a:solidFill>
                <a:latin typeface="Georgia"/>
                <a:ea typeface="Georgia"/>
              </a:rPr>
              <a:t>EcoSentinel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6528960" y="5358240"/>
            <a:ext cx="21664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33524A"/>
                </a:solidFill>
                <a:latin typeface="Calibri"/>
                <a:ea typeface="Calibri"/>
              </a:rPr>
              <a:t>Sludge Biotic Index digitalizado: protozoos indicadores del lodo, trazables y como dataset propio.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9043560" y="3767400"/>
            <a:ext cx="2669400" cy="2395080"/>
          </a:xfrm>
          <a:prstGeom prst="roundRect">
            <a:avLst>
              <a:gd name="adj" fmla="val 343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8"/>
          <p:cNvSpPr/>
          <p:nvPr/>
        </p:nvSpPr>
        <p:spPr>
          <a:xfrm>
            <a:off x="9043560" y="3767400"/>
            <a:ext cx="81720" cy="23950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29"/>
          <p:cNvSpPr/>
          <p:nvPr/>
        </p:nvSpPr>
        <p:spPr>
          <a:xfrm>
            <a:off x="9317880" y="4041720"/>
            <a:ext cx="676080" cy="6760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10" descr="preencoded.png"/>
          <p:cNvPicPr/>
          <p:nvPr/>
        </p:nvPicPr>
        <p:blipFill>
          <a:blip r:embed="rId6"/>
          <a:stretch/>
        </p:blipFill>
        <p:spPr>
          <a:xfrm>
            <a:off x="9473040" y="4197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93" name="Text 30"/>
          <p:cNvSpPr/>
          <p:nvPr/>
        </p:nvSpPr>
        <p:spPr>
          <a:xfrm>
            <a:off x="9317880" y="4791600"/>
            <a:ext cx="2166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2620"/>
                </a:solidFill>
                <a:latin typeface="Georgia"/>
                <a:ea typeface="Georgia"/>
              </a:rPr>
              <a:t>IA explicable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1"/>
          <p:cNvSpPr/>
          <p:nvPr/>
        </p:nvSpPr>
        <p:spPr>
          <a:xfrm>
            <a:off x="9317880" y="5358240"/>
            <a:ext cx="21664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33524A"/>
                </a:solidFill>
                <a:latin typeface="Calibri"/>
                <a:ea typeface="Calibri"/>
              </a:rPr>
              <a:t>Random Forest integra señales químicas, ecológicas y de toxicidad en un Biomass Health Index.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CÓMO FUNCIONA · DEMO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Un día en la planta, con BioMind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76800" y="16275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3524A"/>
                </a:solidFill>
                <a:latin typeface="Calibri"/>
                <a:ea typeface="Calibri"/>
              </a:rPr>
              <a:t>El operador empieza su jornada. Biovant ya está escuchando — y conecta las señales antes de que el problema ocurra.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76800" y="2459880"/>
            <a:ext cx="566280" cy="5662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3"/>
          <a:stretch/>
        </p:blipFill>
        <p:spPr>
          <a:xfrm>
            <a:off x="804600" y="25876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01" name="Text 5"/>
          <p:cNvSpPr/>
          <p:nvPr/>
        </p:nvSpPr>
        <p:spPr>
          <a:xfrm>
            <a:off x="1417320" y="242316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BHI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3611880" y="242316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33524A"/>
                </a:solidFill>
                <a:latin typeface="Calibri"/>
                <a:ea typeface="Calibri"/>
              </a:rPr>
              <a:t>“La biomasa está bajo estrés.”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960120" y="3026520"/>
            <a:ext cx="360" cy="274320"/>
          </a:xfrm>
          <a:prstGeom prst="line">
            <a:avLst/>
          </a:prstGeom>
          <a:ln w="15875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676800" y="3300840"/>
            <a:ext cx="566280" cy="5662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1" descr="preencoded.png"/>
          <p:cNvPicPr/>
          <p:nvPr/>
        </p:nvPicPr>
        <p:blipFill>
          <a:blip r:embed="rId4"/>
          <a:stretch/>
        </p:blipFill>
        <p:spPr>
          <a:xfrm>
            <a:off x="804600" y="342900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06" name="Text 9"/>
          <p:cNvSpPr/>
          <p:nvPr/>
        </p:nvSpPr>
        <p:spPr>
          <a:xfrm>
            <a:off x="1417320" y="32644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Vibrio Sentinel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3611880" y="326448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33524A"/>
                </a:solidFill>
                <a:latin typeface="Calibri"/>
                <a:ea typeface="Calibri"/>
              </a:rPr>
              <a:t>“Señal temprana de toxicidad.”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960120" y="3867840"/>
            <a:ext cx="360" cy="274320"/>
          </a:xfrm>
          <a:prstGeom prst="line">
            <a:avLst/>
          </a:prstGeom>
          <a:ln w="15875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676800" y="4142160"/>
            <a:ext cx="566280" cy="56628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 2" descr="preencoded.png"/>
          <p:cNvPicPr/>
          <p:nvPr/>
        </p:nvPicPr>
        <p:blipFill>
          <a:blip r:embed="rId5"/>
          <a:stretch/>
        </p:blipFill>
        <p:spPr>
          <a:xfrm>
            <a:off x="804600" y="427032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11" name="Text 13"/>
          <p:cNvSpPr/>
          <p:nvPr/>
        </p:nvSpPr>
        <p:spPr>
          <a:xfrm>
            <a:off x="1417320" y="410580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EcoSentinel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3611880" y="41058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33524A"/>
                </a:solidFill>
                <a:latin typeface="Calibri"/>
                <a:ea typeface="Calibri"/>
              </a:rPr>
              <a:t>“Cambió la microfauna dominante.”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5"/>
          <p:cNvSpPr/>
          <p:nvPr/>
        </p:nvSpPr>
        <p:spPr>
          <a:xfrm>
            <a:off x="960120" y="4709160"/>
            <a:ext cx="360" cy="274320"/>
          </a:xfrm>
          <a:prstGeom prst="line">
            <a:avLst/>
          </a:prstGeom>
          <a:ln w="15875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676800" y="4983480"/>
            <a:ext cx="566280" cy="566280"/>
          </a:xfrm>
          <a:prstGeom prst="ellipse">
            <a:avLst/>
          </a:prstGeom>
          <a:solidFill>
            <a:srgbClr val="FBEFD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6"/>
          <a:stretch/>
        </p:blipFill>
        <p:spPr>
          <a:xfrm>
            <a:off x="804600" y="511164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16" name="Text 17"/>
          <p:cNvSpPr/>
          <p:nvPr/>
        </p:nvSpPr>
        <p:spPr>
          <a:xfrm>
            <a:off x="1417320" y="494676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Riesgo predictivo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3611880" y="494676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33524A"/>
                </a:solidFill>
                <a:latin typeface="Calibri"/>
                <a:ea typeface="Calibri"/>
              </a:rPr>
              <a:t>“62% de probabilidad de deterioro.”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7315200" y="2286000"/>
            <a:ext cx="4159800" cy="3702600"/>
          </a:xfrm>
          <a:prstGeom prst="roundRect">
            <a:avLst>
              <a:gd name="adj" fmla="val 2469"/>
            </a:avLst>
          </a:prstGeom>
          <a:solidFill>
            <a:srgbClr val="0A2A24"/>
          </a:solidFill>
          <a:ln w="15875">
            <a:solidFill>
              <a:srgbClr val="14B8A6"/>
            </a:solidFill>
            <a:round/>
          </a:ln>
          <a:effectLst>
            <a:outerShdw blurRad="114480" dist="37674" dir="8100000" algn="bl" rotWithShape="0">
              <a:srgbClr val="0B2620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7315200" y="2606040"/>
            <a:ext cx="4159800" cy="11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0" b="1" strike="noStrike" spc="-1">
                <a:solidFill>
                  <a:srgbClr val="5EEAD4"/>
                </a:solidFill>
                <a:latin typeface="Georgia"/>
                <a:ea typeface="Georgia"/>
              </a:rPr>
              <a:t>62%</a:t>
            </a:r>
            <a:endParaRPr lang="en-US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7589520" y="3767400"/>
            <a:ext cx="3611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9CC3B8"/>
                </a:solidFill>
                <a:latin typeface="Calibri"/>
                <a:ea typeface="Calibri"/>
              </a:rPr>
              <a:t>probabilidad de deterioro del sistema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7863840" y="4343400"/>
            <a:ext cx="3063240" cy="360"/>
          </a:xfrm>
          <a:prstGeom prst="line">
            <a:avLst/>
          </a:prstGeom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4" descr="preencoded.png"/>
          <p:cNvPicPr/>
          <p:nvPr/>
        </p:nvPicPr>
        <p:blipFill>
          <a:blip r:embed="rId7"/>
          <a:stretch/>
        </p:blipFill>
        <p:spPr>
          <a:xfrm>
            <a:off x="7680960" y="457200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23" name="Text 23"/>
          <p:cNvSpPr/>
          <p:nvPr/>
        </p:nvSpPr>
        <p:spPr>
          <a:xfrm>
            <a:off x="8092440" y="4535280"/>
            <a:ext cx="3153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94">
                <a:solidFill>
                  <a:srgbClr val="5EEAD4"/>
                </a:solidFill>
                <a:latin typeface="Calibri"/>
                <a:ea typeface="Calibri"/>
              </a:rPr>
              <a:t>Recomendación operativa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7680960" y="4983480"/>
            <a:ext cx="34282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AF5F0"/>
                </a:solidFill>
                <a:latin typeface="Calibri"/>
                <a:ea typeface="Calibri"/>
              </a:rPr>
              <a:t>Aumentar aireación y revisar un posible ingreso de sanitizantes al sistema.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676800" y="617220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strike="noStrike" spc="-1">
                <a:solidFill>
                  <a:srgbClr val="0D9488"/>
                </a:solidFill>
                <a:latin typeface="Georgia"/>
                <a:ea typeface="Georgia"/>
              </a:rPr>
              <a:t>El objetivo de Biovant es simple: que el problema nunca llegue a ocurrir.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BENEFICIOS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De tratamiento reactivo a prevención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676800" y="1874520"/>
            <a:ext cx="5284440" cy="2148120"/>
          </a:xfrm>
          <a:prstGeom prst="roundRect">
            <a:avLst>
              <a:gd name="adj" fmla="val 383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042560" y="2258640"/>
            <a:ext cx="867960" cy="867960"/>
          </a:xfrm>
          <a:prstGeom prst="roundRect">
            <a:avLst>
              <a:gd name="adj" fmla="val 16842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0" descr="preencoded.png"/>
          <p:cNvPicPr/>
          <p:nvPr/>
        </p:nvPicPr>
        <p:blipFill>
          <a:blip r:embed="rId3"/>
          <a:stretch/>
        </p:blipFill>
        <p:spPr>
          <a:xfrm>
            <a:off x="1280160" y="2496240"/>
            <a:ext cx="392400" cy="392400"/>
          </a:xfrm>
          <a:prstGeom prst="rect">
            <a:avLst/>
          </a:prstGeom>
          <a:ln w="0">
            <a:noFill/>
          </a:ln>
        </p:spPr>
      </p:pic>
      <p:sp>
        <p:nvSpPr>
          <p:cNvPr id="132" name="Text 5"/>
          <p:cNvSpPr/>
          <p:nvPr/>
        </p:nvSpPr>
        <p:spPr>
          <a:xfrm>
            <a:off x="2139840" y="2258640"/>
            <a:ext cx="3547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B2620"/>
                </a:solidFill>
                <a:latin typeface="Georgia"/>
                <a:ea typeface="Georgia"/>
              </a:rPr>
              <a:t>Anticipación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2139840" y="2788920"/>
            <a:ext cx="35013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3524A"/>
                </a:solidFill>
                <a:latin typeface="Calibri"/>
                <a:ea typeface="Calibri"/>
              </a:rPr>
              <a:t>Detecta el deterioro antes de que haya contaminación, multa o parada de planta.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272640" y="1874520"/>
            <a:ext cx="5284440" cy="2148120"/>
          </a:xfrm>
          <a:prstGeom prst="roundRect">
            <a:avLst>
              <a:gd name="adj" fmla="val 383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6638400" y="2258640"/>
            <a:ext cx="867960" cy="867960"/>
          </a:xfrm>
          <a:prstGeom prst="roundRect">
            <a:avLst>
              <a:gd name="adj" fmla="val 16842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6" name="Image 1" descr="preencoded.png"/>
          <p:cNvPicPr/>
          <p:nvPr/>
        </p:nvPicPr>
        <p:blipFill>
          <a:blip r:embed="rId4"/>
          <a:stretch/>
        </p:blipFill>
        <p:spPr>
          <a:xfrm>
            <a:off x="6876360" y="2496240"/>
            <a:ext cx="392400" cy="392400"/>
          </a:xfrm>
          <a:prstGeom prst="rect">
            <a:avLst/>
          </a:prstGeom>
          <a:ln w="0">
            <a:noFill/>
          </a:ln>
        </p:spPr>
      </p:pic>
      <p:sp>
        <p:nvSpPr>
          <p:cNvPr id="137" name="Text 9"/>
          <p:cNvSpPr/>
          <p:nvPr/>
        </p:nvSpPr>
        <p:spPr>
          <a:xfrm>
            <a:off x="7735680" y="2258640"/>
            <a:ext cx="3547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B2620"/>
                </a:solidFill>
                <a:latin typeface="Georgia"/>
                <a:ea typeface="Georgia"/>
              </a:rPr>
              <a:t>Confianza operativa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7735680" y="2788920"/>
            <a:ext cx="35013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3524A"/>
                </a:solidFill>
                <a:latin typeface="Calibri"/>
                <a:ea typeface="Calibri"/>
              </a:rPr>
              <a:t>IA explicable: el operador entiende por qué actuar, y el auditor lo acepta.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676800" y="4334400"/>
            <a:ext cx="5284440" cy="2148120"/>
          </a:xfrm>
          <a:prstGeom prst="roundRect">
            <a:avLst>
              <a:gd name="adj" fmla="val 383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1042560" y="4718160"/>
            <a:ext cx="867960" cy="867960"/>
          </a:xfrm>
          <a:prstGeom prst="roundRect">
            <a:avLst>
              <a:gd name="adj" fmla="val 16842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1" name="Image 2" descr="preencoded.png"/>
          <p:cNvPicPr/>
          <p:nvPr/>
        </p:nvPicPr>
        <p:blipFill>
          <a:blip r:embed="rId5"/>
          <a:stretch/>
        </p:blipFill>
        <p:spPr>
          <a:xfrm>
            <a:off x="1280160" y="4956120"/>
            <a:ext cx="392400" cy="392400"/>
          </a:xfrm>
          <a:prstGeom prst="rect">
            <a:avLst/>
          </a:prstGeom>
          <a:ln w="0">
            <a:noFill/>
          </a:ln>
        </p:spPr>
      </p:pic>
      <p:sp>
        <p:nvSpPr>
          <p:cNvPr id="142" name="Text 13"/>
          <p:cNvSpPr/>
          <p:nvPr/>
        </p:nvSpPr>
        <p:spPr>
          <a:xfrm>
            <a:off x="2139840" y="4718160"/>
            <a:ext cx="3547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B2620"/>
                </a:solidFill>
                <a:latin typeface="Georgia"/>
                <a:ea typeface="Georgia"/>
              </a:rPr>
              <a:t>Trazabilidad + dato propio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2139840" y="5248800"/>
            <a:ext cx="35013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3524A"/>
                </a:solidFill>
                <a:latin typeface="Calibri"/>
                <a:ea typeface="Calibri"/>
              </a:rPr>
              <a:t>Digitaliza el SBI y genera un dataset propietario — defensa y base para automatizar.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6272640" y="4334400"/>
            <a:ext cx="5284440" cy="2148120"/>
          </a:xfrm>
          <a:prstGeom prst="roundRect">
            <a:avLst>
              <a:gd name="adj" fmla="val 3830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6638400" y="4718160"/>
            <a:ext cx="867960" cy="867960"/>
          </a:xfrm>
          <a:prstGeom prst="roundRect">
            <a:avLst>
              <a:gd name="adj" fmla="val 16842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Image 3" descr="preencoded.png"/>
          <p:cNvPicPr/>
          <p:nvPr/>
        </p:nvPicPr>
        <p:blipFill>
          <a:blip r:embed="rId6"/>
          <a:stretch/>
        </p:blipFill>
        <p:spPr>
          <a:xfrm>
            <a:off x="6876360" y="4956120"/>
            <a:ext cx="392400" cy="392400"/>
          </a:xfrm>
          <a:prstGeom prst="rect">
            <a:avLst/>
          </a:prstGeom>
          <a:ln w="0">
            <a:noFill/>
          </a:ln>
        </p:spPr>
      </p:pic>
      <p:sp>
        <p:nvSpPr>
          <p:cNvPr id="147" name="Text 17"/>
          <p:cNvSpPr/>
          <p:nvPr/>
        </p:nvSpPr>
        <p:spPr>
          <a:xfrm>
            <a:off x="7735680" y="4718160"/>
            <a:ext cx="3547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B2620"/>
                </a:solidFill>
                <a:latin typeface="Georgia"/>
                <a:ea typeface="Georgia"/>
              </a:rPr>
              <a:t>Acceso a mercados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7735680" y="5248800"/>
            <a:ext cx="35013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3524A"/>
                </a:solidFill>
                <a:latin typeface="Calibri"/>
                <a:ea typeface="Calibri"/>
              </a:rPr>
              <a:t>Evidencia ambiental robusta para auditorías y exigencias de exportación.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DIFERENCIAL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Integramos lo que hoy está fragmentado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676800" y="164592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3524A"/>
                </a:solidFill>
                <a:latin typeface="Calibri"/>
                <a:ea typeface="Calibri"/>
              </a:rPr>
              <a:t>Biovant no inventa nuevos organismos ni ensayos: integra evidencia científica consolidada que hoy está dispersa, y la vuelve predictiva.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9649080" y="2277000"/>
            <a:ext cx="1862280" cy="3748320"/>
          </a:xfrm>
          <a:prstGeom prst="roundRect">
            <a:avLst>
              <a:gd name="adj" fmla="val 3926"/>
            </a:avLst>
          </a:prstGeom>
          <a:solidFill>
            <a:srgbClr val="E6F5F0"/>
          </a:solidFill>
          <a:ln w="1905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4060080" y="2331720"/>
            <a:ext cx="1862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33524A"/>
                </a:solidFill>
                <a:latin typeface="Calibri"/>
                <a:ea typeface="Calibri"/>
              </a:rPr>
              <a:t>Laboratorio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923080" y="2331720"/>
            <a:ext cx="1862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33524A"/>
                </a:solidFill>
                <a:latin typeface="Calibri"/>
                <a:ea typeface="Calibri"/>
              </a:rPr>
              <a:t>SCADA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7786080" y="2331720"/>
            <a:ext cx="1862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33524A"/>
                </a:solidFill>
                <a:latin typeface="Calibri"/>
                <a:ea typeface="Calibri"/>
              </a:rPr>
              <a:t>Consultoras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9649080" y="2331720"/>
            <a:ext cx="1862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D9488"/>
                </a:solidFill>
                <a:latin typeface="Calibri"/>
                <a:ea typeface="Calibri"/>
              </a:rPr>
              <a:t>Biovant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676800" y="2331720"/>
            <a:ext cx="3382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94">
                <a:solidFill>
                  <a:srgbClr val="5B7C73"/>
                </a:solidFill>
                <a:latin typeface="Calibri"/>
                <a:ea typeface="Calibri"/>
              </a:rPr>
              <a:t>Capacidad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676440" y="295344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768240" y="295344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2620"/>
                </a:solidFill>
                <a:latin typeface="Calibri"/>
                <a:ea typeface="Calibri"/>
              </a:rPr>
              <a:t>Monitoreo químico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Image 0" descr="preencoded.png"/>
          <p:cNvPicPr/>
          <p:nvPr/>
        </p:nvPicPr>
        <p:blipFill>
          <a:blip r:embed="rId3"/>
          <a:stretch/>
        </p:blipFill>
        <p:spPr>
          <a:xfrm>
            <a:off x="4845240" y="310896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62" name="Image 1" descr="preencoded.png"/>
          <p:cNvPicPr/>
          <p:nvPr/>
        </p:nvPicPr>
        <p:blipFill>
          <a:blip r:embed="rId3"/>
          <a:stretch/>
        </p:blipFill>
        <p:spPr>
          <a:xfrm>
            <a:off x="6708240" y="310896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63" name="Image 2" descr="preencoded.png"/>
          <p:cNvPicPr/>
          <p:nvPr/>
        </p:nvPicPr>
        <p:blipFill>
          <a:blip r:embed="rId3"/>
          <a:stretch/>
        </p:blipFill>
        <p:spPr>
          <a:xfrm>
            <a:off x="8571240" y="310896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64" name="Image 3" descr="preencoded.png"/>
          <p:cNvPicPr/>
          <p:nvPr/>
        </p:nvPicPr>
        <p:blipFill>
          <a:blip r:embed="rId3"/>
          <a:stretch/>
        </p:blipFill>
        <p:spPr>
          <a:xfrm>
            <a:off x="10434600" y="310896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65" name="Shape 12"/>
          <p:cNvSpPr/>
          <p:nvPr/>
        </p:nvSpPr>
        <p:spPr>
          <a:xfrm>
            <a:off x="676800" y="3557160"/>
            <a:ext cx="8971920" cy="602640"/>
          </a:xfrm>
          <a:prstGeom prst="rect">
            <a:avLst/>
          </a:prstGeom>
          <a:solidFill>
            <a:srgbClr val="F5FA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676440" y="355680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768240" y="355716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2620"/>
                </a:solidFill>
                <a:latin typeface="Calibri"/>
                <a:ea typeface="Calibri"/>
              </a:rPr>
              <a:t>Toxicidad biológica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4" descr="preencoded.png"/>
          <p:cNvPicPr/>
          <p:nvPr/>
        </p:nvPicPr>
        <p:blipFill>
          <a:blip r:embed="rId3"/>
          <a:stretch/>
        </p:blipFill>
        <p:spPr>
          <a:xfrm>
            <a:off x="4845240" y="37123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69" name="Image 5" descr="preencoded.png"/>
          <p:cNvPicPr/>
          <p:nvPr/>
        </p:nvPicPr>
        <p:blipFill>
          <a:blip r:embed="rId4"/>
          <a:stretch/>
        </p:blipFill>
        <p:spPr>
          <a:xfrm>
            <a:off x="6708240" y="37123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70" name="Image 6" descr="preencoded.png"/>
          <p:cNvPicPr/>
          <p:nvPr/>
        </p:nvPicPr>
        <p:blipFill>
          <a:blip r:embed="rId4"/>
          <a:stretch/>
        </p:blipFill>
        <p:spPr>
          <a:xfrm>
            <a:off x="8571240" y="37123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71" name="Image 7" descr="preencoded.png"/>
          <p:cNvPicPr/>
          <p:nvPr/>
        </p:nvPicPr>
        <p:blipFill>
          <a:blip r:embed="rId3"/>
          <a:stretch/>
        </p:blipFill>
        <p:spPr>
          <a:xfrm>
            <a:off x="10434600" y="371232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72" name="Shape 15"/>
          <p:cNvSpPr/>
          <p:nvPr/>
        </p:nvSpPr>
        <p:spPr>
          <a:xfrm>
            <a:off x="676440" y="416052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768240" y="416052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2620"/>
                </a:solidFill>
                <a:latin typeface="Calibri"/>
                <a:ea typeface="Calibri"/>
              </a:rPr>
              <a:t>Ecología microbiana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 8" descr="preencoded.png"/>
          <p:cNvPicPr/>
          <p:nvPr/>
        </p:nvPicPr>
        <p:blipFill>
          <a:blip r:embed="rId4"/>
          <a:stretch/>
        </p:blipFill>
        <p:spPr>
          <a:xfrm>
            <a:off x="4845240" y="431604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75" name="Image 9" descr="preencoded.png"/>
          <p:cNvPicPr/>
          <p:nvPr/>
        </p:nvPicPr>
        <p:blipFill>
          <a:blip r:embed="rId4"/>
          <a:stretch/>
        </p:blipFill>
        <p:spPr>
          <a:xfrm>
            <a:off x="6708240" y="431604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76" name="Image 10" descr="preencoded.png"/>
          <p:cNvPicPr/>
          <p:nvPr/>
        </p:nvPicPr>
        <p:blipFill>
          <a:blip r:embed="rId3"/>
          <a:stretch/>
        </p:blipFill>
        <p:spPr>
          <a:xfrm>
            <a:off x="8571240" y="431604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77" name="Image 11" descr="preencoded.png"/>
          <p:cNvPicPr/>
          <p:nvPr/>
        </p:nvPicPr>
        <p:blipFill>
          <a:blip r:embed="rId3"/>
          <a:stretch/>
        </p:blipFill>
        <p:spPr>
          <a:xfrm>
            <a:off x="10434600" y="43160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78" name="Shape 17"/>
          <p:cNvSpPr/>
          <p:nvPr/>
        </p:nvSpPr>
        <p:spPr>
          <a:xfrm>
            <a:off x="676800" y="4763880"/>
            <a:ext cx="8971920" cy="602640"/>
          </a:xfrm>
          <a:prstGeom prst="rect">
            <a:avLst/>
          </a:prstGeom>
          <a:solidFill>
            <a:srgbClr val="F5FA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676440" y="476388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768240" y="476388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2620"/>
                </a:solidFill>
                <a:latin typeface="Calibri"/>
                <a:ea typeface="Calibri"/>
              </a:rPr>
              <a:t>IA explicable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12" descr="preencoded.png"/>
          <p:cNvPicPr/>
          <p:nvPr/>
        </p:nvPicPr>
        <p:blipFill>
          <a:blip r:embed="rId4"/>
          <a:stretch/>
        </p:blipFill>
        <p:spPr>
          <a:xfrm>
            <a:off x="4845240" y="491940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82" name="Image 13" descr="preencoded.png"/>
          <p:cNvPicPr/>
          <p:nvPr/>
        </p:nvPicPr>
        <p:blipFill>
          <a:blip r:embed="rId4"/>
          <a:stretch/>
        </p:blipFill>
        <p:spPr>
          <a:xfrm>
            <a:off x="6708240" y="491940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83" name="Image 14" descr="preencoded.png"/>
          <p:cNvPicPr/>
          <p:nvPr/>
        </p:nvPicPr>
        <p:blipFill>
          <a:blip r:embed="rId4"/>
          <a:stretch/>
        </p:blipFill>
        <p:spPr>
          <a:xfrm>
            <a:off x="8571240" y="491940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84" name="Image 15" descr="preencoded.png"/>
          <p:cNvPicPr/>
          <p:nvPr/>
        </p:nvPicPr>
        <p:blipFill>
          <a:blip r:embed="rId3"/>
          <a:stretch/>
        </p:blipFill>
        <p:spPr>
          <a:xfrm>
            <a:off x="10434600" y="49194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85" name="Shape 20"/>
          <p:cNvSpPr/>
          <p:nvPr/>
        </p:nvSpPr>
        <p:spPr>
          <a:xfrm>
            <a:off x="676440" y="536724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768240" y="536760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2620"/>
                </a:solidFill>
                <a:latin typeface="Calibri"/>
                <a:ea typeface="Calibri"/>
              </a:rPr>
              <a:t>Enfoque predictivo e integrado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Image 16" descr="preencoded.png"/>
          <p:cNvPicPr/>
          <p:nvPr/>
        </p:nvPicPr>
        <p:blipFill>
          <a:blip r:embed="rId4"/>
          <a:stretch/>
        </p:blipFill>
        <p:spPr>
          <a:xfrm>
            <a:off x="4845240" y="55231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88" name="Image 17" descr="preencoded.png"/>
          <p:cNvPicPr/>
          <p:nvPr/>
        </p:nvPicPr>
        <p:blipFill>
          <a:blip r:embed="rId4"/>
          <a:stretch/>
        </p:blipFill>
        <p:spPr>
          <a:xfrm>
            <a:off x="6708240" y="55231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89" name="Image 18" descr="preencoded.png"/>
          <p:cNvPicPr/>
          <p:nvPr/>
        </p:nvPicPr>
        <p:blipFill>
          <a:blip r:embed="rId4"/>
          <a:stretch/>
        </p:blipFill>
        <p:spPr>
          <a:xfrm>
            <a:off x="8571240" y="5523120"/>
            <a:ext cx="291960" cy="291960"/>
          </a:xfrm>
          <a:prstGeom prst="rect">
            <a:avLst/>
          </a:prstGeom>
          <a:ln w="0">
            <a:noFill/>
          </a:ln>
        </p:spPr>
      </p:pic>
      <p:pic>
        <p:nvPicPr>
          <p:cNvPr id="190" name="Image 19" descr="preencoded.png"/>
          <p:cNvPicPr/>
          <p:nvPr/>
        </p:nvPicPr>
        <p:blipFill>
          <a:blip r:embed="rId3"/>
          <a:stretch/>
        </p:blipFill>
        <p:spPr>
          <a:xfrm>
            <a:off x="10434600" y="552312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91" name="Shape 22"/>
          <p:cNvSpPr/>
          <p:nvPr/>
        </p:nvSpPr>
        <p:spPr>
          <a:xfrm>
            <a:off x="676440" y="5970960"/>
            <a:ext cx="10835640" cy="360"/>
          </a:xfrm>
          <a:prstGeom prst="line">
            <a:avLst/>
          </a:prstGeom>
          <a:ln w="635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676800" y="62636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0D9488"/>
                </a:solidFill>
                <a:latin typeface="Georgia"/>
                <a:ea typeface="Georgia"/>
              </a:rPr>
              <a:t>La defensa no es una tecnología aislada, sino la integración + el dataset propio que genera.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MERCADO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Empezamos por los frigoríficos argentinos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676800" y="1645920"/>
            <a:ext cx="107892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0B2620"/>
                </a:solidFill>
                <a:latin typeface="Calibri"/>
                <a:ea typeface="Calibri"/>
              </a:rPr>
              <a:t>Beachhead: </a:t>
            </a:r>
            <a:r>
              <a:rPr lang="en-US" sz="1450" b="0" strike="noStrike" spc="-1">
                <a:solidFill>
                  <a:srgbClr val="33524A"/>
                </a:solidFill>
                <a:latin typeface="Calibri"/>
                <a:ea typeface="Calibri"/>
              </a:rPr>
              <a:t>frigoríficos con tratamiento biológico — altas cargas orgánicas, orientados a exportación y bajo creciente presión UE. La misma arquitectura escala a cualquier industria con tratamiento biológico.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777240" y="23317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45">
                <a:solidFill>
                  <a:srgbClr val="5B7C73"/>
                </a:solidFill>
                <a:latin typeface="Calibri"/>
                <a:ea typeface="Calibri"/>
              </a:rPr>
              <a:t>Mercado alcanzable  →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777240" y="4526280"/>
            <a:ext cx="1416600" cy="9136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777240" y="4233600"/>
            <a:ext cx="1416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B7C73"/>
                </a:solidFill>
                <a:latin typeface="Calibri"/>
                <a:ea typeface="Calibri"/>
              </a:rPr>
              <a:t>Sector 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731520" y="5513760"/>
            <a:ext cx="15080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50" b="1" strike="noStrike" spc="-1">
                <a:solidFill>
                  <a:srgbClr val="0B2620"/>
                </a:solidFill>
                <a:latin typeface="Calibri"/>
                <a:ea typeface="Calibri"/>
              </a:rPr>
              <a:t>Frigoríficos — USD 3.884 B en exportaciones (2025) Fuente: Consorcio ABC / Infocampo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2468880" y="4069080"/>
            <a:ext cx="1416600" cy="1370880"/>
          </a:xfrm>
          <a:prstGeom prst="roundRect">
            <a:avLst>
              <a:gd name="adj" fmla="val 4000"/>
            </a:avLst>
          </a:prstGeom>
          <a:solidFill>
            <a:srgbClr val="0FA3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2468880" y="3776400"/>
            <a:ext cx="1416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B7C73"/>
                </a:solidFill>
                <a:latin typeface="Calibri"/>
                <a:ea typeface="Calibri"/>
              </a:rPr>
              <a:t>Sector 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2423160" y="5513760"/>
            <a:ext cx="15080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strike="noStrike" spc="-1">
                <a:solidFill>
                  <a:srgbClr val="0B2620"/>
                </a:solidFill>
                <a:latin typeface="Calibri"/>
                <a:ea typeface="Calibri"/>
              </a:rPr>
              <a:t>Lácteas — USD 1.4 B/año en exportaciones (2024) Fuente: Dirección Nacional de Lechería / OCLA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4160520" y="3611880"/>
            <a:ext cx="1416600" cy="1828080"/>
          </a:xfrm>
          <a:prstGeom prst="roundRect">
            <a:avLst>
              <a:gd name="adj" fmla="val 3871"/>
            </a:avLst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160520" y="3319200"/>
            <a:ext cx="1416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B7C73"/>
                </a:solidFill>
                <a:latin typeface="Calibri"/>
                <a:ea typeface="Calibri"/>
              </a:rPr>
              <a:t>Sector 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114800" y="5513760"/>
            <a:ext cx="15080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0B2620"/>
                </a:solidFill>
                <a:latin typeface="Calibri"/>
                <a:ea typeface="Calibri"/>
              </a:rPr>
              <a:t>Alimenticias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0B2620"/>
                </a:solidFill>
                <a:latin typeface="Calibri"/>
                <a:ea typeface="Calibri"/>
              </a:rPr>
              <a:t>y bebidas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5852160" y="3246120"/>
            <a:ext cx="1416600" cy="2193840"/>
          </a:xfrm>
          <a:prstGeom prst="roundRect">
            <a:avLst>
              <a:gd name="adj" fmla="val 3871"/>
            </a:avLst>
          </a:prstGeom>
          <a:solidFill>
            <a:srgbClr val="3FD6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852160" y="2953440"/>
            <a:ext cx="1416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B7C73"/>
                </a:solidFill>
                <a:latin typeface="Calibri"/>
                <a:ea typeface="Calibri"/>
              </a:rPr>
              <a:t>Sector 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5806440" y="5513760"/>
            <a:ext cx="150804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0B2620"/>
                </a:solidFill>
                <a:latin typeface="Calibri"/>
                <a:ea typeface="Calibri"/>
              </a:rPr>
              <a:t>Toda industria con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0B2620"/>
                </a:solidFill>
                <a:latin typeface="Calibri"/>
                <a:ea typeface="Calibri"/>
              </a:rPr>
              <a:t>tratamiento biológico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685800" y="5440680"/>
            <a:ext cx="845820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8412840" y="2341800"/>
            <a:ext cx="2331000" cy="3748320"/>
          </a:xfrm>
          <a:prstGeom prst="roundRect">
            <a:avLst>
              <a:gd name="adj" fmla="val 3529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8412840" y="2413800"/>
            <a:ext cx="2331000" cy="817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8650440" y="2706480"/>
            <a:ext cx="19105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2620"/>
                </a:solidFill>
                <a:latin typeface="Georgia"/>
                <a:ea typeface="Georgia"/>
              </a:rPr>
              <a:t>Mercado bottom‑up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8668800" y="3556800"/>
            <a:ext cx="18738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D9488"/>
                </a:solidFill>
                <a:latin typeface="Calibri"/>
                <a:ea typeface="Calibri"/>
              </a:rPr>
              <a:t>plantas objetivo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B7C73"/>
                </a:solidFill>
                <a:latin typeface="Calibri"/>
                <a:ea typeface="Calibri"/>
              </a:rPr>
              <a:t>×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D9488"/>
                </a:solidFill>
                <a:latin typeface="Calibri"/>
                <a:ea typeface="Calibri"/>
              </a:rPr>
              <a:t>ticket anual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3524A"/>
                </a:solidFill>
                <a:latin typeface="Calibri"/>
                <a:ea typeface="Calibri"/>
              </a:rPr>
              <a:t>(implementación + SaaS recurrente)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8668800" y="5111280"/>
            <a:ext cx="181944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8668800" y="5294160"/>
            <a:ext cx="18738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5B7C73"/>
                </a:solidFill>
                <a:latin typeface="Calibri"/>
                <a:ea typeface="Calibri"/>
              </a:rPr>
              <a:t>[ Cifras a validar en campo ]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MODELO DE NEGOCIO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Implementación inicial + suscripción SaaS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676800" y="1783080"/>
            <a:ext cx="4571280" cy="1782360"/>
          </a:xfrm>
          <a:prstGeom prst="roundRect">
            <a:avLst>
              <a:gd name="adj" fmla="val 461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996840" y="2103120"/>
            <a:ext cx="730800" cy="730800"/>
          </a:xfrm>
          <a:prstGeom prst="ellipse">
            <a:avLst/>
          </a:prstGeom>
          <a:solidFill>
            <a:srgbClr val="E2F1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 r:embed="rId3"/>
          <a:stretch/>
        </p:blipFill>
        <p:spPr>
          <a:xfrm>
            <a:off x="1161360" y="22676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223" name="Text 5"/>
          <p:cNvSpPr/>
          <p:nvPr/>
        </p:nvSpPr>
        <p:spPr>
          <a:xfrm>
            <a:off x="1911240" y="20574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0B2620"/>
                </a:solidFill>
                <a:latin typeface="Georgia"/>
                <a:ea typeface="Georgia"/>
              </a:rPr>
              <a:t>Implementación inicial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1911240" y="2532960"/>
            <a:ext cx="310824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33524A"/>
                </a:solidFill>
                <a:latin typeface="Calibri"/>
                <a:ea typeface="Calibri"/>
              </a:rPr>
              <a:t>Pago único.  </a:t>
            </a:r>
            <a:r>
              <a:rPr lang="en-US" sz="1350" b="0" strike="noStrike" spc="-1">
                <a:solidFill>
                  <a:srgbClr val="33524A"/>
                </a:solidFill>
                <a:latin typeface="Calibri"/>
                <a:ea typeface="Calibri"/>
              </a:rPr>
              <a:t>Instalación, integración con la operación y calibración inicial.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5486400" y="1783080"/>
            <a:ext cx="5074200" cy="1782360"/>
          </a:xfrm>
          <a:prstGeom prst="roundRect">
            <a:avLst>
              <a:gd name="adj" fmla="val 4615"/>
            </a:avLst>
          </a:prstGeom>
          <a:solidFill>
            <a:srgbClr val="0A2A24"/>
          </a:solidFill>
          <a:ln w="19050">
            <a:solidFill>
              <a:srgbClr val="14B8A6"/>
            </a:solidFill>
            <a:round/>
          </a:ln>
          <a:effectLst>
            <a:outerShdw blurRad="114480" dist="37674" dir="8100000" algn="bl" rotWithShape="0">
              <a:srgbClr val="0B2620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5806440" y="2103120"/>
            <a:ext cx="730800" cy="730800"/>
          </a:xfrm>
          <a:prstGeom prst="ellipse">
            <a:avLst/>
          </a:prstGeom>
          <a:solidFill>
            <a:srgbClr val="0E3029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7" name="Image 1" descr="preencoded.png"/>
          <p:cNvPicPr/>
          <p:nvPr/>
        </p:nvPicPr>
        <p:blipFill>
          <a:blip r:embed="rId4"/>
          <a:stretch/>
        </p:blipFill>
        <p:spPr>
          <a:xfrm>
            <a:off x="5970960" y="22676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228" name="Text 9"/>
          <p:cNvSpPr/>
          <p:nvPr/>
        </p:nvSpPr>
        <p:spPr>
          <a:xfrm>
            <a:off x="6720840" y="2057400"/>
            <a:ext cx="3748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EEAD4"/>
                </a:solidFill>
                <a:latin typeface="Georgia"/>
                <a:ea typeface="Georgia"/>
              </a:rPr>
              <a:t>Suscripción SaaS</a:t>
            </a:r>
            <a:r>
              <a:rPr lang="en-US" sz="1200" b="1" strike="noStrike" spc="-1">
                <a:solidFill>
                  <a:srgbClr val="9CC3B8"/>
                </a:solidFill>
                <a:latin typeface="Georgia"/>
                <a:ea typeface="Georgia"/>
              </a:rPr>
              <a:t>  · núcleo del modelo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6720840" y="2532960"/>
            <a:ext cx="379404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AF5F0"/>
                </a:solidFill>
                <a:latin typeface="Calibri"/>
                <a:ea typeface="Calibri"/>
              </a:rPr>
              <a:t>Ingreso recurrente.  </a:t>
            </a:r>
            <a:r>
              <a:rPr lang="en-US" sz="1350" b="0" strike="noStrike" spc="-1">
                <a:solidFill>
                  <a:srgbClr val="9CC3B8"/>
                </a:solidFill>
                <a:latin typeface="Calibri"/>
                <a:ea typeface="Calibri"/>
              </a:rPr>
              <a:t>Acceso a la plataforma, modelos, monitoreo y recomendaciones operativas.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676800" y="38862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94">
                <a:solidFill>
                  <a:srgbClr val="5B7C73"/>
                </a:solidFill>
                <a:latin typeface="Calibri"/>
                <a:ea typeface="Calibri"/>
              </a:rPr>
              <a:t>Cómo conseguimos, retenemos y crecemos clientes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676800" y="4316040"/>
            <a:ext cx="3455640" cy="1690920"/>
          </a:xfrm>
          <a:prstGeom prst="roundRect">
            <a:avLst>
              <a:gd name="adj" fmla="val 486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Image 2" descr="preencoded.png"/>
          <p:cNvPicPr/>
          <p:nvPr/>
        </p:nvPicPr>
        <p:blipFill>
          <a:blip r:embed="rId5"/>
          <a:stretch/>
        </p:blipFill>
        <p:spPr>
          <a:xfrm>
            <a:off x="969120" y="46087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3" name="Text 13"/>
          <p:cNvSpPr/>
          <p:nvPr/>
        </p:nvSpPr>
        <p:spPr>
          <a:xfrm>
            <a:off x="1517760" y="4553640"/>
            <a:ext cx="24498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0B2620"/>
                </a:solidFill>
                <a:latin typeface="Georgia"/>
                <a:ea typeface="Georgia"/>
              </a:rPr>
              <a:t>Conseguir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969120" y="5102280"/>
            <a:ext cx="290700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3524A"/>
                </a:solidFill>
                <a:latin typeface="Calibri"/>
                <a:ea typeface="Calibri"/>
              </a:rPr>
              <a:t>Design partners en frigoríficos; la presión de exportación como urgencia; pilotos pagos.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4389120" y="4316040"/>
            <a:ext cx="3455640" cy="1690920"/>
          </a:xfrm>
          <a:prstGeom prst="roundRect">
            <a:avLst>
              <a:gd name="adj" fmla="val 486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3" descr="preencoded.png"/>
          <p:cNvPicPr/>
          <p:nvPr/>
        </p:nvPicPr>
        <p:blipFill>
          <a:blip r:embed="rId6"/>
          <a:stretch/>
        </p:blipFill>
        <p:spPr>
          <a:xfrm>
            <a:off x="4681800" y="46087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7" name="Text 16"/>
          <p:cNvSpPr/>
          <p:nvPr/>
        </p:nvSpPr>
        <p:spPr>
          <a:xfrm>
            <a:off x="5230440" y="4553640"/>
            <a:ext cx="24498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0B2620"/>
                </a:solidFill>
                <a:latin typeface="Georgia"/>
                <a:ea typeface="Georgia"/>
              </a:rPr>
              <a:t>Retener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4681800" y="5102280"/>
            <a:ext cx="290700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3524A"/>
                </a:solidFill>
                <a:latin typeface="Calibri"/>
                <a:ea typeface="Calibri"/>
              </a:rPr>
              <a:t>La plataforma se vuelve parte del flujo de cumplimiento; el histórico de datos crea costo de cambio.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8101440" y="4316040"/>
            <a:ext cx="3455640" cy="1690920"/>
          </a:xfrm>
          <a:prstGeom prst="roundRect">
            <a:avLst>
              <a:gd name="adj" fmla="val 486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4" descr="preencoded.png"/>
          <p:cNvPicPr/>
          <p:nvPr/>
        </p:nvPicPr>
        <p:blipFill>
          <a:blip r:embed="rId7"/>
          <a:stretch/>
        </p:blipFill>
        <p:spPr>
          <a:xfrm>
            <a:off x="8394120" y="46087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41" name="Text 19"/>
          <p:cNvSpPr/>
          <p:nvPr/>
        </p:nvSpPr>
        <p:spPr>
          <a:xfrm>
            <a:off x="8942760" y="4553640"/>
            <a:ext cx="24498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0B2620"/>
                </a:solidFill>
                <a:latin typeface="Georgia"/>
                <a:ea typeface="Georgia"/>
              </a:rPr>
              <a:t>Crecer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8394120" y="5102280"/>
            <a:ext cx="290700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3524A"/>
                </a:solidFill>
                <a:latin typeface="Calibri"/>
                <a:ea typeface="Calibri"/>
              </a:rPr>
              <a:t>Expansión dentro de grupos industriales y a verticales adyacentes (land &amp; expand).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TRACCIÓN Y HOJA DE RUTA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Dónde estamos y a dónde vamos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676800" y="16916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0D9488"/>
                </a:solidFill>
                <a:latin typeface="Calibri"/>
                <a:ea typeface="Calibri"/>
              </a:rPr>
              <a:t>LOGRADO A LA FECHA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4"/>
          <p:cNvSpPr/>
          <p:nvPr/>
        </p:nvSpPr>
        <p:spPr>
          <a:xfrm>
            <a:off x="676800" y="2011680"/>
            <a:ext cx="2097720" cy="456480"/>
          </a:xfrm>
          <a:prstGeom prst="roundRect">
            <a:avLst>
              <a:gd name="adj" fmla="val 50000"/>
            </a:avLst>
          </a:prstGeom>
          <a:solidFill>
            <a:srgbClr val="E6F5F0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/>
          <p:cNvPicPr/>
          <p:nvPr/>
        </p:nvPicPr>
        <p:blipFill>
          <a:blip r:embed="rId3"/>
          <a:stretch/>
        </p:blipFill>
        <p:spPr>
          <a:xfrm>
            <a:off x="841320" y="213984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49" name="Text 5"/>
          <p:cNvSpPr/>
          <p:nvPr/>
        </p:nvSpPr>
        <p:spPr>
          <a:xfrm>
            <a:off x="1097280" y="2011680"/>
            <a:ext cx="1640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B2620"/>
                </a:solidFill>
                <a:latin typeface="Calibri"/>
                <a:ea typeface="Calibri"/>
              </a:rPr>
              <a:t>Prototipo / MVP funcional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2958120" y="2011680"/>
            <a:ext cx="4602240" cy="456480"/>
          </a:xfrm>
          <a:prstGeom prst="roundRect">
            <a:avLst>
              <a:gd name="adj" fmla="val 50000"/>
            </a:avLst>
          </a:prstGeom>
          <a:solidFill>
            <a:srgbClr val="E6F5F0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Image 1" descr="preencoded.png"/>
          <p:cNvPicPr/>
          <p:nvPr/>
        </p:nvPicPr>
        <p:blipFill>
          <a:blip r:embed="rId3"/>
          <a:stretch/>
        </p:blipFill>
        <p:spPr>
          <a:xfrm>
            <a:off x="3122640" y="213984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52" name="Text 7"/>
          <p:cNvSpPr/>
          <p:nvPr/>
        </p:nvSpPr>
        <p:spPr>
          <a:xfrm>
            <a:off x="3378600" y="2011680"/>
            <a:ext cx="4145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B2620"/>
                </a:solidFill>
                <a:latin typeface="Calibri"/>
                <a:ea typeface="Calibri"/>
              </a:rPr>
              <a:t>Base científica validada (SBI · ISO 11348 · Random Forest)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7743960" y="2011680"/>
            <a:ext cx="3160440" cy="456480"/>
          </a:xfrm>
          <a:prstGeom prst="roundRect">
            <a:avLst>
              <a:gd name="adj" fmla="val 50000"/>
            </a:avLst>
          </a:prstGeom>
          <a:solidFill>
            <a:srgbClr val="E6F5F0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Image 2" descr="preencoded.png"/>
          <p:cNvPicPr/>
          <p:nvPr/>
        </p:nvPicPr>
        <p:blipFill>
          <a:blip r:embed="rId3"/>
          <a:stretch/>
        </p:blipFill>
        <p:spPr>
          <a:xfrm>
            <a:off x="7908480" y="213984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55" name="Text 9"/>
          <p:cNvSpPr/>
          <p:nvPr/>
        </p:nvSpPr>
        <p:spPr>
          <a:xfrm>
            <a:off x="8164800" y="2011680"/>
            <a:ext cx="2703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B2620"/>
                </a:solidFill>
                <a:latin typeface="Calibri"/>
                <a:ea typeface="Calibri"/>
              </a:rPr>
              <a:t>Reconocimiento en hackathon [completar]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676800" y="3063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5B7C73"/>
                </a:solidFill>
                <a:latin typeface="Calibri"/>
                <a:ea typeface="Calibri"/>
              </a:rPr>
              <a:t>PRÓXIMOS 18 MESES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914400" y="4160520"/>
            <a:ext cx="10424160" cy="360"/>
          </a:xfrm>
          <a:prstGeom prst="line">
            <a:avLst/>
          </a:prstGeom>
          <a:ln w="254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722520" y="3968640"/>
            <a:ext cx="383400" cy="383400"/>
          </a:xfrm>
          <a:prstGeom prst="ellipse">
            <a:avLst/>
          </a:prstGeom>
          <a:solidFill>
            <a:srgbClr val="0D9488"/>
          </a:solidFill>
          <a:ln w="317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Image 3" descr="preencoded.png"/>
          <p:cNvPicPr/>
          <p:nvPr/>
        </p:nvPicPr>
        <p:blipFill>
          <a:blip r:embed="rId4"/>
          <a:stretch/>
        </p:blipFill>
        <p:spPr>
          <a:xfrm>
            <a:off x="813960" y="406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60" name="Text 13"/>
          <p:cNvSpPr/>
          <p:nvPr/>
        </p:nvSpPr>
        <p:spPr>
          <a:xfrm>
            <a:off x="749880" y="4453200"/>
            <a:ext cx="2541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0–6 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749880" y="4727520"/>
            <a:ext cx="2541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Pilotos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749880" y="5111640"/>
            <a:ext cx="2541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Design partners y pilotos pagos en frigoríficos.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6"/>
          <p:cNvSpPr/>
          <p:nvPr/>
        </p:nvSpPr>
        <p:spPr>
          <a:xfrm>
            <a:off x="4197240" y="3968640"/>
            <a:ext cx="383400" cy="383400"/>
          </a:xfrm>
          <a:prstGeom prst="ellipse">
            <a:avLst/>
          </a:prstGeom>
          <a:solidFill>
            <a:srgbClr val="0D9488"/>
          </a:solidFill>
          <a:ln w="317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4" name="Image 4" descr="preencoded.png"/>
          <p:cNvPicPr/>
          <p:nvPr/>
        </p:nvPicPr>
        <p:blipFill>
          <a:blip r:embed="rId5"/>
          <a:stretch/>
        </p:blipFill>
        <p:spPr>
          <a:xfrm>
            <a:off x="4288680" y="406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65" name="Text 17"/>
          <p:cNvSpPr/>
          <p:nvPr/>
        </p:nvSpPr>
        <p:spPr>
          <a:xfrm>
            <a:off x="3117960" y="4453200"/>
            <a:ext cx="2541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6–12 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3117960" y="4727520"/>
            <a:ext cx="2541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Primeros clientes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3402000" y="5092920"/>
            <a:ext cx="2541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Conversión a clientes pagos; dataset de microfauna en construcción.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7671960" y="3968640"/>
            <a:ext cx="383400" cy="383400"/>
          </a:xfrm>
          <a:prstGeom prst="ellipse">
            <a:avLst/>
          </a:prstGeom>
          <a:solidFill>
            <a:srgbClr val="0D9488"/>
          </a:solidFill>
          <a:ln w="317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9" name="Image 5" descr="preencoded.png"/>
          <p:cNvPicPr/>
          <p:nvPr/>
        </p:nvPicPr>
        <p:blipFill>
          <a:blip r:embed="rId6"/>
          <a:stretch/>
        </p:blipFill>
        <p:spPr>
          <a:xfrm>
            <a:off x="7763400" y="406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70" name="Text 21"/>
          <p:cNvSpPr/>
          <p:nvPr/>
        </p:nvSpPr>
        <p:spPr>
          <a:xfrm>
            <a:off x="6592680" y="4453200"/>
            <a:ext cx="2541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12–18 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6592680" y="4727520"/>
            <a:ext cx="2541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Automatización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6592680" y="5111640"/>
            <a:ext cx="2541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Visión computacional; expansión a lácteas y alimenticias.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4"/>
          <p:cNvSpPr/>
          <p:nvPr/>
        </p:nvSpPr>
        <p:spPr>
          <a:xfrm>
            <a:off x="11146680" y="3968640"/>
            <a:ext cx="383400" cy="383400"/>
          </a:xfrm>
          <a:prstGeom prst="ellipse">
            <a:avLst/>
          </a:prstGeom>
          <a:solidFill>
            <a:srgbClr val="0D9488"/>
          </a:solidFill>
          <a:ln w="317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6" descr="preencoded.png"/>
          <p:cNvPicPr/>
          <p:nvPr/>
        </p:nvPicPr>
        <p:blipFill>
          <a:blip r:embed="rId7"/>
          <a:stretch/>
        </p:blipFill>
        <p:spPr>
          <a:xfrm>
            <a:off x="11238120" y="406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275" name="Text 25"/>
          <p:cNvSpPr/>
          <p:nvPr/>
        </p:nvSpPr>
        <p:spPr>
          <a:xfrm>
            <a:off x="8961120" y="4453200"/>
            <a:ext cx="2541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18 m +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6"/>
          <p:cNvSpPr/>
          <p:nvPr/>
        </p:nvSpPr>
        <p:spPr>
          <a:xfrm>
            <a:off x="8961120" y="4727520"/>
            <a:ext cx="2541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2620"/>
                </a:solidFill>
                <a:latin typeface="Georgia"/>
                <a:ea typeface="Georgia"/>
              </a:rPr>
              <a:t>Escala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7"/>
          <p:cNvSpPr/>
          <p:nvPr/>
        </p:nvSpPr>
        <p:spPr>
          <a:xfrm>
            <a:off x="8961120" y="5111640"/>
            <a:ext cx="2541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Land &amp; expand a verticales industriales adyacentes.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676800" y="640080"/>
            <a:ext cx="255240" cy="63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024200" y="5302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0D9488"/>
                </a:solidFill>
                <a:latin typeface="Calibri"/>
                <a:ea typeface="Calibri"/>
              </a:rPr>
              <a:t>EQUIPO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640080" y="841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0B2620"/>
                </a:solidFill>
                <a:latin typeface="Georgia"/>
                <a:ea typeface="Georgia"/>
              </a:rPr>
              <a:t>Cruzamos ciencia, datos y sostenibilidad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676800" y="1627560"/>
            <a:ext cx="107892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3524A"/>
                </a:solidFill>
                <a:latin typeface="Calibri"/>
                <a:ea typeface="Calibri"/>
              </a:rPr>
              <a:t>Interdisciplinario: convertimos evidencia científica en decisiones operativas accionables.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676800" y="2377440"/>
            <a:ext cx="2669400" cy="3245400"/>
          </a:xfrm>
          <a:prstGeom prst="roundRect">
            <a:avLst>
              <a:gd name="adj" fmla="val 342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"/>
          <p:cNvSpPr/>
          <p:nvPr/>
        </p:nvSpPr>
        <p:spPr>
          <a:xfrm>
            <a:off x="1463040" y="2743200"/>
            <a:ext cx="1096560" cy="10965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4" name="Image 0" descr="preencoded.png"/>
          <p:cNvPicPr/>
          <p:nvPr/>
        </p:nvPicPr>
        <p:blipFill>
          <a:blip r:embed="rId3"/>
          <a:stretch/>
        </p:blipFill>
        <p:spPr>
          <a:xfrm>
            <a:off x="1719000" y="299916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85" name="Text 6"/>
          <p:cNvSpPr/>
          <p:nvPr/>
        </p:nvSpPr>
        <p:spPr>
          <a:xfrm>
            <a:off x="859680" y="400500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B2620"/>
                </a:solidFill>
                <a:latin typeface="Georgia"/>
                <a:ea typeface="Georgia"/>
              </a:rPr>
              <a:t>Lucia Herzog Mallo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859680" y="438912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Producto y Negocio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1316520" y="4864320"/>
            <a:ext cx="138996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905400" y="4983480"/>
            <a:ext cx="2212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Derecho · LegalTech · política de IA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3465720" y="2377440"/>
            <a:ext cx="2669400" cy="3245400"/>
          </a:xfrm>
          <a:prstGeom prst="roundRect">
            <a:avLst>
              <a:gd name="adj" fmla="val 342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1"/>
          <p:cNvSpPr/>
          <p:nvPr/>
        </p:nvSpPr>
        <p:spPr>
          <a:xfrm>
            <a:off x="4251960" y="2743200"/>
            <a:ext cx="1096560" cy="10965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1" name="Image 1" descr="preencoded.png"/>
          <p:cNvPicPr/>
          <p:nvPr/>
        </p:nvPicPr>
        <p:blipFill>
          <a:blip r:embed="rId4"/>
          <a:stretch/>
        </p:blipFill>
        <p:spPr>
          <a:xfrm>
            <a:off x="4507920" y="299916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92" name="Text 12"/>
          <p:cNvSpPr/>
          <p:nvPr/>
        </p:nvSpPr>
        <p:spPr>
          <a:xfrm>
            <a:off x="3648600" y="400500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2620"/>
                </a:solidFill>
                <a:latin typeface="Georgia"/>
                <a:ea typeface="Georgia"/>
              </a:rPr>
              <a:t>Asesoramiento Tecnico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3648600" y="438912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Ciencia y Bioprocesos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4105440" y="4864320"/>
            <a:ext cx="138996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3694320" y="4983480"/>
            <a:ext cx="2212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Segun el Area de Expertise 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6"/>
          <p:cNvSpPr/>
          <p:nvPr/>
        </p:nvSpPr>
        <p:spPr>
          <a:xfrm>
            <a:off x="6254640" y="2377440"/>
            <a:ext cx="2669400" cy="3245400"/>
          </a:xfrm>
          <a:prstGeom prst="roundRect">
            <a:avLst>
              <a:gd name="adj" fmla="val 342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7040880" y="2743200"/>
            <a:ext cx="1096560" cy="10965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6437520" y="400500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6437520" y="438912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9488"/>
                </a:solidFill>
                <a:latin typeface="Calibri"/>
                <a:ea typeface="Calibri"/>
              </a:rPr>
              <a:t>Marco Regulatorio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6894360" y="4864320"/>
            <a:ext cx="138996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6483240" y="4983480"/>
            <a:ext cx="2212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LegalTech 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9043560" y="2377440"/>
            <a:ext cx="2669400" cy="3245400"/>
          </a:xfrm>
          <a:prstGeom prst="roundRect">
            <a:avLst>
              <a:gd name="adj" fmla="val 3425"/>
            </a:avLst>
          </a:prstGeom>
          <a:solidFill>
            <a:srgbClr val="F2F8F5"/>
          </a:solidFill>
          <a:ln w="12700">
            <a:solidFill>
              <a:srgbClr val="D9E8E2"/>
            </a:solidFill>
            <a:round/>
          </a:ln>
          <a:effectLst>
            <a:outerShdw blurRad="177840" dist="49893" dir="8100000" algn="bl" rotWithShape="0">
              <a:srgbClr val="0B262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3"/>
          <p:cNvSpPr/>
          <p:nvPr/>
        </p:nvSpPr>
        <p:spPr>
          <a:xfrm>
            <a:off x="9829800" y="2743200"/>
            <a:ext cx="1096560" cy="10965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4" name="Image 3" descr="preencoded.png"/>
          <p:cNvPicPr/>
          <p:nvPr/>
        </p:nvPicPr>
        <p:blipFill>
          <a:blip r:embed="rId5"/>
          <a:stretch/>
        </p:blipFill>
        <p:spPr>
          <a:xfrm>
            <a:off x="10085760" y="299916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305" name="Text 24"/>
          <p:cNvSpPr/>
          <p:nvPr/>
        </p:nvSpPr>
        <p:spPr>
          <a:xfrm>
            <a:off x="9226440" y="400500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B2620"/>
                </a:solidFill>
                <a:latin typeface="Georgia"/>
                <a:ea typeface="Georgia"/>
              </a:rPr>
              <a:t>Avril Valentina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B2620"/>
                </a:solidFill>
                <a:latin typeface="Georgia"/>
                <a:ea typeface="Georgia"/>
              </a:rPr>
              <a:t>Saint-Ignan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25"/>
          <p:cNvSpPr/>
          <p:nvPr/>
        </p:nvSpPr>
        <p:spPr>
          <a:xfrm>
            <a:off x="9226440" y="4389120"/>
            <a:ext cx="2303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0D9488"/>
                </a:solidFill>
                <a:latin typeface="Calibri"/>
                <a:ea typeface="Calibri"/>
              </a:rPr>
              <a:t>Ingeniería </a:t>
            </a:r>
            <a:r>
              <a:rPr lang="en-US" sz="1300" b="1" strike="noStrike" spc="-1" dirty="0" err="1">
                <a:solidFill>
                  <a:srgbClr val="0D9488"/>
                </a:solidFill>
                <a:latin typeface="Calibri"/>
                <a:ea typeface="Calibri"/>
              </a:rPr>
              <a:t>Informática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6"/>
          <p:cNvSpPr/>
          <p:nvPr/>
        </p:nvSpPr>
        <p:spPr>
          <a:xfrm>
            <a:off x="9683280" y="4864320"/>
            <a:ext cx="1389960" cy="360"/>
          </a:xfrm>
          <a:prstGeom prst="line">
            <a:avLst/>
          </a:prstGeom>
          <a:ln w="12700">
            <a:solidFill>
              <a:srgbClr val="C9DE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7"/>
          <p:cNvSpPr/>
          <p:nvPr/>
        </p:nvSpPr>
        <p:spPr>
          <a:xfrm>
            <a:off x="9272160" y="4983480"/>
            <a:ext cx="2212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3524A"/>
                </a:solidFill>
                <a:latin typeface="Calibri"/>
                <a:ea typeface="Calibri"/>
              </a:rPr>
              <a:t>Plataforma · integración de sensores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20" descr="preencoded.png"/>
          <p:cNvPicPr/>
          <p:nvPr/>
        </p:nvPicPr>
        <p:blipFill>
          <a:blip r:embed="rId3"/>
          <a:stretch/>
        </p:blipFill>
        <p:spPr>
          <a:xfrm>
            <a:off x="1719360" y="2999520"/>
            <a:ext cx="584640" cy="584640"/>
          </a:xfrm>
          <a:prstGeom prst="rect">
            <a:avLst/>
          </a:prstGeom>
          <a:ln w="0">
            <a:noFill/>
          </a:ln>
        </p:spPr>
      </p:pic>
      <p:pic>
        <p:nvPicPr>
          <p:cNvPr id="310" name="Image 21" descr="preencoded.png"/>
          <p:cNvPicPr/>
          <p:nvPr/>
        </p:nvPicPr>
        <p:blipFill>
          <a:blip r:embed="rId3"/>
          <a:stretch/>
        </p:blipFill>
        <p:spPr>
          <a:xfrm>
            <a:off x="7315200" y="297180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311" name="Rectángulo 310"/>
          <p:cNvSpPr/>
          <p:nvPr/>
        </p:nvSpPr>
        <p:spPr>
          <a:xfrm>
            <a:off x="5751305" y="4023000"/>
            <a:ext cx="274356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0B2620"/>
                </a:solidFill>
                <a:latin typeface="Georgia"/>
                <a:ea typeface="Georgia"/>
              </a:rPr>
              <a:t>                  Samuel Ramos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676800" y="713160"/>
            <a:ext cx="255240" cy="6336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1024200" y="60336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296">
                <a:solidFill>
                  <a:srgbClr val="5EEAD4"/>
                </a:solidFill>
                <a:latin typeface="Calibri"/>
                <a:ea typeface="Calibri"/>
              </a:rPr>
              <a:t>LA INVITACIÓN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640080" y="960120"/>
            <a:ext cx="1088064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EAF5F0"/>
                </a:solidFill>
                <a:latin typeface="Georgia"/>
                <a:ea typeface="Georgia"/>
              </a:rPr>
              <a:t>Los invitamos a sumarse a esta oportunidad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676800" y="1874520"/>
            <a:ext cx="100576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strike="noStrike" spc="-1">
                <a:solidFill>
                  <a:srgbClr val="5EEAD4"/>
                </a:solidFill>
                <a:latin typeface="Georgia"/>
                <a:ea typeface="Georgia"/>
              </a:rPr>
              <a:t>Escuchamos a la biología antes de que falle.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676800" y="2514600"/>
            <a:ext cx="10296000" cy="182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9CC3B8"/>
                </a:solidFill>
                <a:latin typeface="Calibri"/>
                <a:ea typeface="Calibri"/>
              </a:rPr>
              <a:t>Creemos que el futuro de la sostenibilidad industrial no es reaccionar frente a la contaminación, sino anticiparse: proteger el ambiente, fortalecer la competitividad y demostrar que producir y cuidar el planeta no se oponen.</a:t>
            </a:r>
            <a:endParaRPr lang="en-US" sz="1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9"/>
          <p:cNvSpPr/>
          <p:nvPr/>
        </p:nvSpPr>
        <p:spPr>
          <a:xfrm>
            <a:off x="676800" y="5257800"/>
            <a:ext cx="3455640" cy="712440"/>
          </a:xfrm>
          <a:prstGeom prst="roundRect">
            <a:avLst>
              <a:gd name="adj" fmla="val 12821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8" name="Image 1" descr="preencoded.png"/>
          <p:cNvPicPr/>
          <p:nvPr/>
        </p:nvPicPr>
        <p:blipFill>
          <a:blip r:embed="rId4"/>
          <a:stretch/>
        </p:blipFill>
        <p:spPr>
          <a:xfrm>
            <a:off x="932760" y="54680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19" name="Text 10"/>
          <p:cNvSpPr/>
          <p:nvPr/>
        </p:nvSpPr>
        <p:spPr>
          <a:xfrm>
            <a:off x="1334880" y="5257800"/>
            <a:ext cx="267840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AF5F0"/>
                </a:solidFill>
                <a:latin typeface="Calibri"/>
                <a:ea typeface="Calibri"/>
              </a:rPr>
              <a:t>Previene multas y daño ambiental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4389120" y="5257800"/>
            <a:ext cx="3455640" cy="712440"/>
          </a:xfrm>
          <a:prstGeom prst="roundRect">
            <a:avLst>
              <a:gd name="adj" fmla="val 12821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2" descr="preencoded.png"/>
          <p:cNvPicPr/>
          <p:nvPr/>
        </p:nvPicPr>
        <p:blipFill>
          <a:blip r:embed="rId5"/>
          <a:stretch/>
        </p:blipFill>
        <p:spPr>
          <a:xfrm>
            <a:off x="4645080" y="54680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22" name="Text 12"/>
          <p:cNvSpPr/>
          <p:nvPr/>
        </p:nvSpPr>
        <p:spPr>
          <a:xfrm>
            <a:off x="5047560" y="5257800"/>
            <a:ext cx="267840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AF5F0"/>
                </a:solidFill>
                <a:latin typeface="Calibri"/>
                <a:ea typeface="Calibri"/>
              </a:rPr>
              <a:t>Genera dato propietario (defensa)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8101440" y="5257800"/>
            <a:ext cx="3455640" cy="712440"/>
          </a:xfrm>
          <a:prstGeom prst="roundRect">
            <a:avLst>
              <a:gd name="adj" fmla="val 12821"/>
            </a:avLst>
          </a:prstGeom>
          <a:solidFill>
            <a:srgbClr val="0E3029"/>
          </a:solidFill>
          <a:ln w="12700">
            <a:solidFill>
              <a:srgbClr val="1C4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4" name="Image 3" descr="preencoded.png"/>
          <p:cNvPicPr/>
          <p:nvPr/>
        </p:nvPicPr>
        <p:blipFill>
          <a:blip r:embed="rId6"/>
          <a:stretch/>
        </p:blipFill>
        <p:spPr>
          <a:xfrm>
            <a:off x="8357760" y="54680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25" name="Text 14"/>
          <p:cNvSpPr/>
          <p:nvPr/>
        </p:nvSpPr>
        <p:spPr>
          <a:xfrm>
            <a:off x="8759880" y="5257800"/>
            <a:ext cx="267840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AF5F0"/>
                </a:solidFill>
                <a:latin typeface="Calibri"/>
                <a:ea typeface="Calibri"/>
              </a:rPr>
              <a:t>Mercado en expansión regulatoria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1055</Words>
  <Application>Microsoft Office PowerPoint</Application>
  <PresentationFormat>Personalizado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Georgia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BioMind — Pitch para inversores</dc:title>
  <dc:subject>PptxGenJS Presentation</dc:subject>
  <dc:creator>BioMind</dc:creator>
  <dc:description/>
  <cp:lastModifiedBy>Valentina Saint-ignan</cp:lastModifiedBy>
  <cp:revision>5</cp:revision>
  <dcterms:created xsi:type="dcterms:W3CDTF">2026-06-07T01:35:14Z</dcterms:created>
  <dcterms:modified xsi:type="dcterms:W3CDTF">2026-06-07T11:52:17Z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